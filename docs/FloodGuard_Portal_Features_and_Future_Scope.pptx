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iver-monitoring-desktop.png"/>
          <p:cNvPicPr>
            <a:picLocks noChangeAspect="1"/>
          </p:cNvPicPr>
          <p:nvPr/>
        </p:nvPicPr>
        <p:blipFill>
          <a:blip r:embed="rId2"/>
          <a:srcRect t="11755" b="1175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97ECDB"/>
                </a:solidFill>
                <a:latin typeface="Aptos"/>
              </a:rPr>
              <a:t>PORTAL FEATURE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78992"/>
            <a:ext cx="7132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Aptos"/>
              </a:rPr>
              <a:t>FloodGuard AI Disaster Management Portal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423160"/>
            <a:ext cx="5943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DCEBF5"/>
                </a:solidFill>
                <a:latin typeface="Aptos"/>
              </a:rPr>
              <a:t>All current portal capabilities plus future scope and implementation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23620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CCDCE8"/>
                </a:solidFill>
                <a:latin typeface="Aptos"/>
              </a:rPr>
              <a:t>Prepared from the local disaster_management repository - 12 Oct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009488"/>
                </a:solidFill>
                <a:latin typeface="Aptos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91F37"/>
                </a:solidFill>
                <a:latin typeface="Aptos"/>
              </a:rPr>
              <a:t>What the Portal Delivers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4023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586676"/>
                </a:solidFill>
                <a:latin typeface="Aptos"/>
              </a:rPr>
              <a:t>FloodGuard AI Disaster Management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86676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61872"/>
            <a:ext cx="4480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6212D"/>
                </a:solidFill>
                <a:latin typeface="Aptos"/>
              </a:rPr>
              <a:t>A command dashboard for flood intelligence, field reporting, simulation, and response coordination across Pakistan-focused operational geography.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57400"/>
            <a:ext cx="19659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167128"/>
            <a:ext cx="1709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586676"/>
                </a:solidFill>
                <a:latin typeface="Aptos"/>
              </a:rPr>
              <a:t>MAIN VIEWS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359152"/>
            <a:ext cx="17099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472C8"/>
                </a:solidFill>
                <a:latin typeface="Aptos"/>
              </a:rPr>
              <a:t>10+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1488" y="2057400"/>
            <a:ext cx="19659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9504" y="2167128"/>
            <a:ext cx="1709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586676"/>
                </a:solidFill>
                <a:latin typeface="Aptos"/>
              </a:rPr>
              <a:t>PRIORITY SITES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9504" y="2359152"/>
            <a:ext cx="17099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09488"/>
                </a:solidFill>
                <a:latin typeface="Aptos"/>
              </a:rPr>
              <a:t>28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64608" y="2057400"/>
            <a:ext cx="19659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92624" y="2167128"/>
            <a:ext cx="1709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586676"/>
                </a:solidFill>
                <a:latin typeface="Aptos"/>
              </a:rPr>
              <a:t>REFRESH MODES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2624" y="2359152"/>
            <a:ext cx="17099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E68034"/>
                </a:solidFill>
                <a:latin typeface="Aptos"/>
              </a:rPr>
              <a:t>15m / 3m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67728" y="2057400"/>
            <a:ext cx="19659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95744" y="2167128"/>
            <a:ext cx="1709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586676"/>
                </a:solidFill>
                <a:latin typeface="Aptos"/>
              </a:rPr>
              <a:t>ADM2 SCREEN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5744" y="2359152"/>
            <a:ext cx="17099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439666"/>
                </a:solidFill>
                <a:latin typeface="Aptos"/>
              </a:rPr>
              <a:t>126 districts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072384"/>
            <a:ext cx="356616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072384"/>
            <a:ext cx="73152" cy="1298448"/>
          </a:xfrm>
          <a:prstGeom prst="rect">
            <a:avLst/>
          </a:prstGeom>
          <a:solidFill>
            <a:srgbClr val="2472C8"/>
          </a:solidFill>
          <a:ln>
            <a:solidFill>
              <a:srgbClr val="247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209544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91F37"/>
                </a:solidFill>
                <a:latin typeface="Aptos"/>
              </a:rPr>
              <a:t>Operational awareness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511296"/>
            <a:ext cx="32461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86676"/>
                </a:solidFill>
                <a:latin typeface="Aptos"/>
              </a:rPr>
              <a:t>Overview map, KPIs, live weather and river context, hourly analytics, activity stream, alerts, and incidents.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43984" y="3072384"/>
            <a:ext cx="356616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43984" y="3072384"/>
            <a:ext cx="73152" cy="1298448"/>
          </a:xfrm>
          <a:prstGeom prst="rect">
            <a:avLst/>
          </a:prstGeom>
          <a:solidFill>
            <a:srgbClr val="009488"/>
          </a:solidFill>
          <a:ln>
            <a:solidFill>
              <a:srgbClr val="00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08576" y="3209544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91F37"/>
                </a:solidFill>
                <a:latin typeface="Aptos"/>
              </a:rPr>
              <a:t>GIS intelligence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08576" y="3511296"/>
            <a:ext cx="32461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86676"/>
                </a:solidFill>
                <a:latin typeface="Aptos"/>
              </a:rPr>
              <a:t>District risk, rainfall raster, rivers, catchments, glaciers, Google Flood Hub points, reports, incidents, and resources.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3072384"/>
            <a:ext cx="310896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3072384"/>
            <a:ext cx="73152" cy="1298448"/>
          </a:xfrm>
          <a:prstGeom prst="rect">
            <a:avLst/>
          </a:prstGeom>
          <a:solidFill>
            <a:srgbClr val="E68034"/>
          </a:solidFill>
          <a:ln>
            <a:solidFill>
              <a:srgbClr val="E68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94192" y="3209544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91F37"/>
                </a:solidFill>
                <a:latin typeface="Aptos"/>
              </a:rPr>
              <a:t>Decision support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3511296"/>
            <a:ext cx="27889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86676"/>
                </a:solidFill>
                <a:latin typeface="Aptos"/>
              </a:rPr>
              <a:t>Predictive models, upstream forecasts, monitoring simulation, citizen reports, population exposure, and automation context.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4919472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32"/>
              </a:spcAft>
              <a:defRPr sz="1200">
                <a:solidFill>
                  <a:srgbClr val="16212D"/>
                </a:solidFill>
                <a:latin typeface="Aptos"/>
              </a:defRPr>
            </a:pPr>
            <a:r>
              <a:t>- Production defaults avoid silent mock fallbacks; simulation is isolated and clearly labeled.</a:t>
            </a:r>
          </a:p>
          <a:p>
            <a:pPr>
              <a:spcAft>
                <a:spcPts val="432"/>
              </a:spcAft>
              <a:defRPr sz="1200">
                <a:solidFill>
                  <a:srgbClr val="16212D"/>
                </a:solidFill>
                <a:latin typeface="Aptos"/>
              </a:defRPr>
            </a:pPr>
            <a:r>
              <a:t>- Backend APIs expose dashboard summaries, GIS layers, forecasts, reports, incidents, resources, and analysis artifacts.</a:t>
            </a:r>
          </a:p>
          <a:p>
            <a:pPr>
              <a:spcAft>
                <a:spcPts val="432"/>
              </a:spcAft>
              <a:defRPr sz="1200">
                <a:solidFill>
                  <a:srgbClr val="16212D"/>
                </a:solidFill>
                <a:latin typeface="Aptos"/>
              </a:defRPr>
            </a:pPr>
            <a:r>
              <a:t>- Frontend is built as a responsive authority dashboard with MapLibre-based operational layers.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009488"/>
                </a:solidFill>
                <a:latin typeface="Aptos"/>
              </a:rPr>
              <a:t>PORTAL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91F37"/>
                </a:solidFill>
                <a:latin typeface="Aptos"/>
              </a:rPr>
              <a:t>Command Navigation and 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4023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586676"/>
                </a:solidFill>
                <a:latin typeface="Aptos"/>
              </a:rPr>
              <a:t>FloodGuard AI Disaster Management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86676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143000"/>
            <a:ext cx="5166360" cy="4526280"/>
          </a:xfrm>
          <a:prstGeom prst="roundRect">
            <a:avLst/>
          </a:prstGeom>
          <a:solidFill>
            <a:srgbClr val="E9EFF6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redictive-sidebar-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2890" y="1143000"/>
            <a:ext cx="4205060" cy="4526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132588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32"/>
              </a:spcAft>
              <a:defRPr sz="1300">
                <a:solidFill>
                  <a:srgbClr val="16212D"/>
                </a:solidFill>
                <a:latin typeface="Aptos"/>
              </a:defRPr>
            </a:pPr>
            <a:r>
              <a:t>- Sidebar sections cover Overview, GIS Operations, Predictive Risk, Upstream Watch, River Monitoring, Alerts, Incidents, Citizen Reports, Activity, Simulation, and Rainfall Heatmap.</a:t>
            </a:r>
          </a:p>
          <a:p>
            <a:pPr>
              <a:spcAft>
                <a:spcPts val="432"/>
              </a:spcAft>
              <a:defRPr sz="1300">
                <a:solidFill>
                  <a:srgbClr val="16212D"/>
                </a:solidFill>
                <a:latin typeface="Aptos"/>
              </a:defRPr>
            </a:pPr>
            <a:r>
              <a:t>- The top bar exposes operational location selection and current update status.</a:t>
            </a:r>
          </a:p>
          <a:p>
            <a:pPr>
              <a:spcAft>
                <a:spcPts val="432"/>
              </a:spcAft>
              <a:defRPr sz="1300">
                <a:solidFill>
                  <a:srgbClr val="16212D"/>
                </a:solidFill>
                <a:latin typeface="Aptos"/>
              </a:defRPr>
            </a:pPr>
            <a:r>
              <a:t>- Responsive screenshots exist for desktop and mobile views, and validation scripts check overflow and rendering.</a:t>
            </a:r>
          </a:p>
          <a:p>
            <a:pPr>
              <a:spcAft>
                <a:spcPts val="432"/>
              </a:spcAft>
              <a:defRPr sz="1300">
                <a:solidFill>
                  <a:srgbClr val="16212D"/>
                </a:solidFill>
                <a:latin typeface="Aptos"/>
              </a:defRPr>
            </a:pPr>
            <a:r>
              <a:t>- External Google Flood Hub access is available directly from navigation for official reference mapping.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4526280"/>
            <a:ext cx="24231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4526280"/>
            <a:ext cx="73152" cy="841248"/>
          </a:xfrm>
          <a:prstGeom prst="rect">
            <a:avLst/>
          </a:prstGeom>
          <a:solidFill>
            <a:srgbClr val="2472C8"/>
          </a:solidFill>
          <a:ln>
            <a:solidFill>
              <a:srgbClr val="247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66344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91F37"/>
                </a:solidFill>
                <a:latin typeface="Aptos"/>
              </a:rPr>
              <a:t>Design intent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965192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86676"/>
                </a:solidFill>
                <a:latin typeface="Aptos"/>
              </a:rPr>
              <a:t>Dense command surface for repeated operational use.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0128" y="4526280"/>
            <a:ext cx="24231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10128" y="4526280"/>
            <a:ext cx="73152" cy="841248"/>
          </a:xfrm>
          <a:prstGeom prst="rect">
            <a:avLst/>
          </a:prstGeom>
          <a:solidFill>
            <a:srgbClr val="E68034"/>
          </a:solidFill>
          <a:ln>
            <a:solidFill>
              <a:srgbClr val="E68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466344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91F37"/>
                </a:solidFill>
                <a:latin typeface="Aptos"/>
              </a:rPr>
              <a:t>Operational 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4965192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86676"/>
                </a:solidFill>
                <a:latin typeface="Aptos"/>
              </a:rPr>
              <a:t>Live mode, simulation mode, backend errors, and refresh status stay visible.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009488"/>
                </a:solidFill>
                <a:latin typeface="Aptos"/>
              </a:rPr>
              <a:t>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91F37"/>
                </a:solidFill>
                <a:latin typeface="Aptos"/>
              </a:rPr>
              <a:t>Operational Overview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4023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586676"/>
                </a:solidFill>
                <a:latin typeface="Aptos"/>
              </a:rPr>
              <a:t>FloodGuard AI Disaster Management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86676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0" y="1115568"/>
            <a:ext cx="5669280" cy="4553712"/>
          </a:xfrm>
          <a:prstGeom prst="roundRect">
            <a:avLst/>
          </a:prstGeom>
          <a:solidFill>
            <a:srgbClr val="E9EFF6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onitoring-panel-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307782"/>
            <a:ext cx="5669280" cy="416928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1316736"/>
            <a:ext cx="4983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32"/>
              </a:spcAft>
              <a:defRPr sz="1300">
                <a:solidFill>
                  <a:srgbClr val="16212D"/>
                </a:solidFill>
                <a:latin typeface="Aptos"/>
              </a:defRPr>
            </a:pPr>
            <a:r>
              <a:t>- National map canvas opens with Pakistan boundary context and overlays command KPIs.</a:t>
            </a:r>
          </a:p>
          <a:p>
            <a:pPr>
              <a:spcAft>
                <a:spcPts val="432"/>
              </a:spcAft>
              <a:defRPr sz="1300">
                <a:solidFill>
                  <a:srgbClr val="16212D"/>
                </a:solidFill>
                <a:latin typeface="Aptos"/>
              </a:defRPr>
            </a:pPr>
            <a:r>
              <a:t>- KPI deck summarizes risk, active incidents, reports, resources, monitoring interval, and command statistics.</a:t>
            </a:r>
          </a:p>
          <a:p>
            <a:pPr>
              <a:spcAft>
                <a:spcPts val="432"/>
              </a:spcAft>
              <a:defRPr sz="1300">
                <a:solidFill>
                  <a:srgbClr val="16212D"/>
                </a:solidFill>
                <a:latin typeface="Aptos"/>
              </a:defRPr>
            </a:pPr>
            <a:r>
              <a:t>- Hourly analytics ticker provides quick scanning across weather, river, risk, reports, and operational feeds.</a:t>
            </a:r>
          </a:p>
          <a:p>
            <a:pPr>
              <a:spcAft>
                <a:spcPts val="432"/>
              </a:spcAft>
              <a:defRPr sz="1300">
                <a:solidFill>
                  <a:srgbClr val="16212D"/>
                </a:solidFill>
                <a:latin typeface="Aptos"/>
              </a:defRPr>
            </a:pPr>
            <a:r>
              <a:t>- Mode banners warn when the system is in simulation or when a scenario is configured.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4343400"/>
            <a:ext cx="23774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4343400"/>
            <a:ext cx="73152" cy="914400"/>
          </a:xfrm>
          <a:prstGeom prst="rect">
            <a:avLst/>
          </a:prstGeom>
          <a:solidFill>
            <a:srgbClr val="009488"/>
          </a:solidFill>
          <a:ln>
            <a:solidFill>
              <a:srgbClr val="00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48056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91F37"/>
                </a:solidFill>
                <a:latin typeface="Aptos"/>
              </a:rPr>
              <a:t>Live refresh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782312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86676"/>
                </a:solidFill>
                <a:latin typeface="Aptos"/>
              </a:rPr>
              <a:t>Dashboard batches weather, river, risk, GIS, event, report, alert, incident, and resource requests.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73552" y="4343400"/>
            <a:ext cx="23774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73552" y="4343400"/>
            <a:ext cx="73152" cy="914400"/>
          </a:xfrm>
          <a:prstGeom prst="rect">
            <a:avLst/>
          </a:prstGeom>
          <a:solidFill>
            <a:srgbClr val="E68034"/>
          </a:solidFill>
          <a:ln>
            <a:solidFill>
              <a:srgbClr val="E68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38144" y="448056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91F37"/>
                </a:solidFill>
                <a:latin typeface="Aptos"/>
              </a:rPr>
              <a:t>Flood cadence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38144" y="4782312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86676"/>
                </a:solidFill>
                <a:latin typeface="Aptos"/>
              </a:rPr>
              <a:t>River layer refreshes every 15 minutes normally and every 3 minutes during flood-like states.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009488"/>
                </a:solidFill>
                <a:latin typeface="Aptos"/>
              </a:rPr>
              <a:t>GIS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91F37"/>
                </a:solidFill>
                <a:latin typeface="Aptos"/>
              </a:rPr>
              <a:t>Layered Map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4023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586676"/>
                </a:solidFill>
                <a:latin typeface="Aptos"/>
              </a:rPr>
              <a:t>FloodGuard AI Disaster Management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86676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06440" y="1097280"/>
            <a:ext cx="5833872" cy="4617720"/>
          </a:xfrm>
          <a:prstGeom prst="roundRect">
            <a:avLst/>
          </a:prstGeom>
          <a:solidFill>
            <a:srgbClr val="E9EFF6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iver-monitoring-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260977"/>
            <a:ext cx="5833872" cy="42903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1298448"/>
            <a:ext cx="484632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32"/>
              </a:spcAft>
              <a:defRPr sz="1250">
                <a:solidFill>
                  <a:srgbClr val="16212D"/>
                </a:solidFill>
                <a:latin typeface="Aptos"/>
              </a:defRPr>
            </a:pPr>
            <a:r>
              <a:t>- Static layers: Pakistan boundary, district names, catchments, glaciers, rivers, lakes, dams, and risk locations.</a:t>
            </a:r>
          </a:p>
          <a:p>
            <a:pPr>
              <a:spcAft>
                <a:spcPts val="432"/>
              </a:spcAft>
              <a:defRPr sz="1250">
                <a:solidFill>
                  <a:srgbClr val="16212D"/>
                </a:solidFill>
                <a:latin typeface="Aptos"/>
              </a:defRPr>
            </a:pPr>
            <a:r>
              <a:t>- Dynamic layers: district screening, river status, model forecast points, monitoring gauges, Flood Hub, reports, incidents, and response resources.</a:t>
            </a:r>
          </a:p>
          <a:p>
            <a:pPr>
              <a:spcAft>
                <a:spcPts val="432"/>
              </a:spcAft>
              <a:defRPr sz="1250">
                <a:solidFill>
                  <a:srgbClr val="16212D"/>
                </a:solidFill>
                <a:latin typeface="Aptos"/>
              </a:defRPr>
            </a:pPr>
            <a:r>
              <a:t>- Coordinate tools support lat/long entry, map picking, feature lookup, and study mode for corresponding catchment layers.</a:t>
            </a:r>
          </a:p>
          <a:p>
            <a:pPr>
              <a:spcAft>
                <a:spcPts val="432"/>
              </a:spcAft>
              <a:defRPr sz="1250">
                <a:solidFill>
                  <a:srgbClr val="16212D"/>
                </a:solidFill>
                <a:latin typeface="Aptos"/>
              </a:defRPr>
            </a:pPr>
            <a:r>
              <a:t>- Kashmir boundary source selector, LoC reference, and explicit display-geometry disclaimers avoid false boundary certainty.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4754880"/>
            <a:ext cx="2304288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4754880"/>
            <a:ext cx="73152" cy="804672"/>
          </a:xfrm>
          <a:prstGeom prst="rect">
            <a:avLst/>
          </a:prstGeom>
          <a:solidFill>
            <a:srgbClr val="2472C8"/>
          </a:solidFill>
          <a:ln>
            <a:solidFill>
              <a:srgbClr val="247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892040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91F37"/>
                </a:solidFill>
                <a:latin typeface="Aptos"/>
              </a:rPr>
              <a:t>Map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193792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86676"/>
                </a:solidFill>
                <a:latin typeface="Aptos"/>
              </a:rPr>
              <a:t>MapLibre with compressed, cached GeoJSON assets.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82112" y="4754880"/>
            <a:ext cx="2304288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82112" y="4754880"/>
            <a:ext cx="73152" cy="804672"/>
          </a:xfrm>
          <a:prstGeom prst="rect">
            <a:avLst/>
          </a:prstGeom>
          <a:solidFill>
            <a:srgbClr val="009488"/>
          </a:solidFill>
          <a:ln>
            <a:solidFill>
              <a:srgbClr val="00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6704" y="4892040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91F37"/>
                </a:solidFill>
                <a:latin typeface="Aptos"/>
              </a:rPr>
              <a:t>Study mode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46704" y="5193792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86676"/>
                </a:solidFill>
                <a:latin typeface="Aptos"/>
              </a:rPr>
              <a:t>Clips layers to selected HydroBASINS catchment.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009488"/>
                </a:solidFill>
                <a:latin typeface="Aptos"/>
              </a:rPr>
              <a:t>RAINFALL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91F37"/>
                </a:solidFill>
                <a:latin typeface="Aptos"/>
              </a:rPr>
              <a:t>Heatmap and Weather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4023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586676"/>
                </a:solidFill>
                <a:latin typeface="Aptos"/>
              </a:rPr>
              <a:t>FloodGuard AI Disaster Management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86676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298448"/>
            <a:ext cx="4983480" cy="2029968"/>
          </a:xfrm>
          <a:prstGeom prst="roundRect">
            <a:avLst/>
          </a:prstGeom>
          <a:solidFill>
            <a:srgbClr val="E9EFF6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art-14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478" y="1298448"/>
            <a:ext cx="4983244" cy="202996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309360" y="3794760"/>
            <a:ext cx="4983480" cy="685800"/>
          </a:xfrm>
          <a:prstGeom prst="roundRect">
            <a:avLst/>
          </a:prstGeom>
          <a:solidFill>
            <a:srgbClr val="E9EFF6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upstream-cache-14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3986710"/>
            <a:ext cx="4983480" cy="3019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1325880"/>
            <a:ext cx="53035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32"/>
              </a:spcAft>
              <a:defRPr sz="1300">
                <a:solidFill>
                  <a:srgbClr val="16212D"/>
                </a:solidFill>
                <a:latin typeface="Aptos"/>
              </a:defRPr>
            </a:pPr>
            <a:r>
              <a:t>- Rainfall heatmap supports last 1h, 3h, 6h, 24h and forecast 24h, 72h windows.</a:t>
            </a:r>
          </a:p>
          <a:p>
            <a:pPr>
              <a:spcAft>
                <a:spcPts val="432"/>
              </a:spcAft>
              <a:defRPr sz="1300">
                <a:solidFill>
                  <a:srgbClr val="16212D"/>
                </a:solidFill>
                <a:latin typeface="Aptos"/>
              </a:defRPr>
            </a:pPr>
            <a:r>
              <a:t>- Open-Meteo weather and regional rainfall samples feed the raster; local data is used when regional refresh is unavailable.</a:t>
            </a:r>
          </a:p>
          <a:p>
            <a:pPr>
              <a:spcAft>
                <a:spcPts val="432"/>
              </a:spcAft>
              <a:defRPr sz="1300">
                <a:solidFill>
                  <a:srgbClr val="16212D"/>
                </a:solidFill>
                <a:latin typeface="Aptos"/>
              </a:defRPr>
            </a:pPr>
            <a:r>
              <a:t>- Legend displays rainfall accumulation ranges from light precipitation through 100+ mm.</a:t>
            </a:r>
          </a:p>
          <a:p>
            <a:pPr>
              <a:spcAft>
                <a:spcPts val="432"/>
              </a:spcAft>
              <a:defRPr sz="1300">
                <a:solidFill>
                  <a:srgbClr val="16212D"/>
                </a:solidFill>
                <a:latin typeface="Aptos"/>
              </a:defRPr>
            </a:pPr>
            <a:r>
              <a:t>- Rainfall layer can be enabled directly from the rainfall view or as a GIS dynamic layer.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526280"/>
            <a:ext cx="25146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4526280"/>
            <a:ext cx="73152" cy="868680"/>
          </a:xfrm>
          <a:prstGeom prst="rect">
            <a:avLst/>
          </a:prstGeom>
          <a:solidFill>
            <a:srgbClr val="E68034"/>
          </a:solidFill>
          <a:ln>
            <a:solidFill>
              <a:srgbClr val="E68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66344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91F37"/>
                </a:solidFill>
                <a:latin typeface="Aptos"/>
              </a:rPr>
              <a:t>Source hygiene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965192"/>
            <a:ext cx="21945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86676"/>
                </a:solidFill>
                <a:latin typeface="Aptos"/>
              </a:rPr>
              <a:t>Cached regional rainfall can be shown when provider refresh fails.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4526280"/>
            <a:ext cx="25146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4526280"/>
            <a:ext cx="73152" cy="868680"/>
          </a:xfrm>
          <a:prstGeom prst="rect">
            <a:avLst/>
          </a:prstGeom>
          <a:solidFill>
            <a:srgbClr val="009488"/>
          </a:solidFill>
          <a:ln>
            <a:solidFill>
              <a:srgbClr val="00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466344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91F37"/>
                </a:solidFill>
                <a:latin typeface="Aptos"/>
              </a:rPr>
              <a:t>Operational 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4965192"/>
            <a:ext cx="21945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86676"/>
                </a:solidFill>
                <a:latin typeface="Aptos"/>
              </a:rPr>
              <a:t>Pairs precipitation signal with district risk, river status, and reports.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009488"/>
                </a:solidFill>
                <a:latin typeface="Aptos"/>
              </a:rPr>
              <a:t>PREDICTIVE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91F37"/>
                </a:solidFill>
                <a:latin typeface="Aptos"/>
              </a:rPr>
              <a:t>Multi-Hazard Forecast 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4023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586676"/>
                </a:solidFill>
                <a:latin typeface="Aptos"/>
              </a:rPr>
              <a:t>FloodGuard AI Disaster Management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86676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060704"/>
            <a:ext cx="5166360" cy="4709160"/>
          </a:xfrm>
          <a:prstGeom prst="roundRect">
            <a:avLst/>
          </a:prstGeom>
          <a:solidFill>
            <a:srgbClr val="E9EFF6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redictive-sidebar-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9339" y="1060704"/>
            <a:ext cx="4374961" cy="4709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1298448"/>
            <a:ext cx="52578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32"/>
              </a:spcAft>
              <a:defRPr sz="1250">
                <a:solidFill>
                  <a:srgbClr val="16212D"/>
                </a:solidFill>
                <a:latin typeface="Aptos"/>
              </a:defRPr>
            </a:pPr>
            <a:r>
              <a:t>- Riverine short-term: station discharge and flood class for Trimmu and Balloki horizons.</a:t>
            </a:r>
          </a:p>
          <a:p>
            <a:pPr>
              <a:spcAft>
                <a:spcPts val="432"/>
              </a:spcAft>
              <a:defRPr sz="1250">
                <a:solidFill>
                  <a:srgbClr val="16212D"/>
                </a:solidFill>
                <a:latin typeface="Aptos"/>
              </a:defRPr>
            </a:pPr>
            <a:r>
              <a:t>- Flash flood: 0-6 hour probability for hill torrents, streams, and urban catchments.</a:t>
            </a:r>
          </a:p>
          <a:p>
            <a:pPr>
              <a:spcAft>
                <a:spcPts val="432"/>
              </a:spcAft>
              <a:defRPr sz="1250">
                <a:solidFill>
                  <a:srgbClr val="16212D"/>
                </a:solidFill>
                <a:latin typeface="Aptos"/>
              </a:defRPr>
            </a:pPr>
            <a:r>
              <a:t>- Urban flooding: city grid or ward susceptibility using rainfall, DEM, slope, drainage, land use, and reports.</a:t>
            </a:r>
          </a:p>
          <a:p>
            <a:pPr>
              <a:spcAft>
                <a:spcPts val="432"/>
              </a:spcAft>
              <a:defRPr sz="1250">
                <a:solidFill>
                  <a:srgbClr val="16212D"/>
                </a:solidFill>
                <a:latin typeface="Aptos"/>
              </a:defRPr>
            </a:pPr>
            <a:r>
              <a:t>- Seasonal basin risk and upstream or transboundary anomaly detection give wider decision context.</a:t>
            </a:r>
          </a:p>
          <a:p>
            <a:pPr>
              <a:spcAft>
                <a:spcPts val="432"/>
              </a:spcAft>
              <a:defRPr sz="1250">
                <a:solidFill>
                  <a:srgbClr val="16212D"/>
                </a:solidFill>
                <a:latin typeface="Aptos"/>
              </a:defRPr>
            </a:pPr>
            <a:r>
              <a:t>- Stored forecast points are charted by model case and selectable target.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4992624"/>
            <a:ext cx="24688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4992624"/>
            <a:ext cx="73152" cy="749808"/>
          </a:xfrm>
          <a:prstGeom prst="rect">
            <a:avLst/>
          </a:prstGeom>
          <a:solidFill>
            <a:srgbClr val="CA3939"/>
          </a:solidFill>
          <a:ln>
            <a:solidFill>
              <a:srgbClr val="CA3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129784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91F37"/>
                </a:solidFill>
                <a:latin typeface="Aptos"/>
              </a:rPr>
              <a:t>Model stance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431536"/>
            <a:ext cx="2148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86676"/>
                </a:solidFill>
                <a:latin typeface="Aptos"/>
              </a:rPr>
              <a:t>Rule-based live baseline remains primary until validated ML artifacts meet deployment gates.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46704" y="4992624"/>
            <a:ext cx="24688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46704" y="4992624"/>
            <a:ext cx="73152" cy="749808"/>
          </a:xfrm>
          <a:prstGeom prst="rect">
            <a:avLst/>
          </a:prstGeom>
          <a:solidFill>
            <a:srgbClr val="2472C8"/>
          </a:solidFill>
          <a:ln>
            <a:solidFill>
              <a:srgbClr val="247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11296" y="5129784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91F37"/>
                </a:solidFill>
                <a:latin typeface="Aptos"/>
              </a:rPr>
              <a:t>Model families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11296" y="5431536"/>
            <a:ext cx="2148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86676"/>
                </a:solidFill>
                <a:latin typeface="Aptos"/>
              </a:rPr>
              <a:t>XGBoost, LightGBM, TFT comparison, and anomaly methods are represented.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009488"/>
                </a:solidFill>
                <a:latin typeface="Aptos"/>
              </a:rPr>
              <a:t>UPSTREAM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91F37"/>
                </a:solidFill>
                <a:latin typeface="Aptos"/>
              </a:rPr>
              <a:t>Source Flood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4023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586676"/>
                </a:solidFill>
                <a:latin typeface="Aptos"/>
              </a:rPr>
              <a:t>FloodGuard AI Disaster Management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86676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24144" y="1078992"/>
            <a:ext cx="5989320" cy="4709160"/>
          </a:xfrm>
          <a:prstGeom prst="roundRect">
            <a:avLst/>
          </a:prstGeom>
          <a:solidFill>
            <a:srgbClr val="E9EFF6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ource-tab-expan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144" y="1353947"/>
            <a:ext cx="5989320" cy="41592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1298448"/>
            <a:ext cx="4645152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32"/>
              </a:spcAft>
              <a:defRPr sz="1270">
                <a:solidFill>
                  <a:srgbClr val="16212D"/>
                </a:solidFill>
                <a:latin typeface="Aptos"/>
              </a:defRPr>
            </a:pPr>
            <a:r>
              <a:t>- Station selector covers upstream source stations with river and basin metadata.</a:t>
            </a:r>
          </a:p>
          <a:p>
            <a:pPr>
              <a:spcAft>
                <a:spcPts val="432"/>
              </a:spcAft>
              <a:defRPr sz="1270">
                <a:solidFill>
                  <a:srgbClr val="16212D"/>
                </a:solidFill>
                <a:latin typeface="Aptos"/>
              </a:defRPr>
            </a:pPr>
            <a:r>
              <a:t>- GloFAS and GEOGloWS forecasts are shown in parallel with current flow, model peaks, peak timing, and provider notes.</a:t>
            </a:r>
          </a:p>
          <a:p>
            <a:pPr>
              <a:spcAft>
                <a:spcPts val="432"/>
              </a:spcAft>
              <a:defRPr sz="1270">
                <a:solidFill>
                  <a:srgbClr val="16212D"/>
                </a:solidFill>
                <a:latin typeface="Aptos"/>
              </a:defRPr>
            </a:pPr>
            <a:r>
              <a:t>- Trend strips summarize retrospective modeled history; rainfall context shows forecast totals and probabilities.</a:t>
            </a:r>
          </a:p>
          <a:p>
            <a:pPr>
              <a:spcAft>
                <a:spcPts val="432"/>
              </a:spcAft>
              <a:defRPr sz="1270">
                <a:solidFill>
                  <a:srgbClr val="16212D"/>
                </a:solidFill>
                <a:latin typeface="Aptos"/>
              </a:defRPr>
            </a:pPr>
            <a:r>
              <a:t>- Stored cache timestamp, next refresh time, automatic hourly update, and manual refresh button are exposed to users.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4709160"/>
            <a:ext cx="219456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4709160"/>
            <a:ext cx="73152" cy="804672"/>
          </a:xfrm>
          <a:prstGeom prst="rect">
            <a:avLst/>
          </a:prstGeom>
          <a:solidFill>
            <a:srgbClr val="009488"/>
          </a:solidFill>
          <a:ln>
            <a:solidFill>
              <a:srgbClr val="00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846320"/>
            <a:ext cx="1874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91F37"/>
                </a:solidFill>
                <a:latin typeface="Aptos"/>
              </a:rPr>
              <a:t>Lead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148072"/>
            <a:ext cx="1874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86676"/>
                </a:solidFill>
                <a:latin typeface="Aptos"/>
              </a:rPr>
              <a:t>Hours to days for upstream and transboundary signals.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54096" y="4709160"/>
            <a:ext cx="219456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54096" y="4709160"/>
            <a:ext cx="73152" cy="804672"/>
          </a:xfrm>
          <a:prstGeom prst="rect">
            <a:avLst/>
          </a:prstGeom>
          <a:solidFill>
            <a:srgbClr val="E68034"/>
          </a:solidFill>
          <a:ln>
            <a:solidFill>
              <a:srgbClr val="E68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18688" y="4846320"/>
            <a:ext cx="1874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91F37"/>
                </a:solidFill>
                <a:latin typeface="Aptos"/>
              </a:rPr>
              <a:t>Traceability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18688" y="5148072"/>
            <a:ext cx="1874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86676"/>
                </a:solidFill>
                <a:latin typeface="Aptos"/>
              </a:rPr>
              <a:t>Forecast panel labels model source and stale or unavailable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009488"/>
                </a:solidFill>
                <a:latin typeface="Aptos"/>
              </a:rPr>
              <a:t>RIVER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91F37"/>
                </a:solidFill>
                <a:latin typeface="Aptos"/>
              </a:rPr>
              <a:t>Stations, Gauges, and Flow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4023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586676"/>
                </a:solidFill>
                <a:latin typeface="Aptos"/>
              </a:rPr>
              <a:t>FloodGuard AI Disaster Management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86676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0" y="1078992"/>
            <a:ext cx="5897880" cy="4681728"/>
          </a:xfrm>
          <a:prstGeom prst="roundRect">
            <a:avLst/>
          </a:prstGeom>
          <a:solidFill>
            <a:srgbClr val="E9EFF6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iver-monitoring-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251156"/>
            <a:ext cx="5897880" cy="433739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1316736"/>
            <a:ext cx="470916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32"/>
              </a:spcAft>
              <a:defRPr sz="1280">
                <a:solidFill>
                  <a:srgbClr val="16212D"/>
                </a:solidFill>
                <a:latin typeface="Aptos"/>
              </a:defRPr>
            </a:pPr>
            <a:r>
              <a:t>- Detailed table filters by river, unit, station search, and selected station inspector.</a:t>
            </a:r>
          </a:p>
          <a:p>
            <a:pPr>
              <a:spcAft>
                <a:spcPts val="432"/>
              </a:spcAft>
              <a:defRPr sz="1280">
                <a:solidFill>
                  <a:srgbClr val="16212D"/>
                </a:solidFill>
                <a:latin typeface="Aptos"/>
              </a:defRPr>
            </a:pPr>
            <a:r>
              <a:t>- Shows current flow, forecast flow, flood category, 24h change, expected peak, and timestamps.</a:t>
            </a:r>
          </a:p>
          <a:p>
            <a:pPr>
              <a:spcAft>
                <a:spcPts val="432"/>
              </a:spcAft>
              <a:defRPr sz="1280">
                <a:solidFill>
                  <a:srgbClr val="16212D"/>
                </a:solidFill>
                <a:latin typeface="Aptos"/>
              </a:defRPr>
            </a:pPr>
            <a:r>
              <a:t>- Separates FFD observed status from GloFAS modeled values and labels measured versus modeled fields.</a:t>
            </a:r>
          </a:p>
          <a:p>
            <a:pPr>
              <a:spcAft>
                <a:spcPts val="432"/>
              </a:spcAft>
              <a:defRPr sz="1280">
                <a:solidFill>
                  <a:srgbClr val="16212D"/>
                </a:solidFill>
                <a:latin typeface="Aptos"/>
              </a:defRPr>
            </a:pPr>
            <a:r>
              <a:t>- Map river colors change based on current river status and refresh at operational cadence.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4663440"/>
            <a:ext cx="22402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4663440"/>
            <a:ext cx="73152" cy="868680"/>
          </a:xfrm>
          <a:prstGeom prst="rect">
            <a:avLst/>
          </a:prstGeom>
          <a:solidFill>
            <a:srgbClr val="2472C8"/>
          </a:solidFill>
          <a:ln>
            <a:solidFill>
              <a:srgbClr val="247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80060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91F37"/>
                </a:solidFill>
                <a:latin typeface="Aptos"/>
              </a:rPr>
              <a:t>Units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102352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86676"/>
                </a:solidFill>
                <a:latin typeface="Aptos"/>
              </a:rPr>
              <a:t>m3/s and cusecs.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90672" y="4663440"/>
            <a:ext cx="22402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90672" y="4663440"/>
            <a:ext cx="73152" cy="868680"/>
          </a:xfrm>
          <a:prstGeom prst="rect">
            <a:avLst/>
          </a:prstGeom>
          <a:solidFill>
            <a:srgbClr val="CA3939"/>
          </a:solidFill>
          <a:ln>
            <a:solidFill>
              <a:srgbClr val="CA3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55264" y="480060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91F37"/>
                </a:solidFill>
                <a:latin typeface="Aptos"/>
              </a:rPr>
              <a:t>Quality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55264" y="5102352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86676"/>
                </a:solidFill>
                <a:latin typeface="Aptos"/>
              </a:rPr>
              <a:t>Observed water height is left unavailable if not published.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009488"/>
                </a:solidFill>
                <a:latin typeface="Aptos"/>
              </a:rPr>
              <a:t>STATION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91F37"/>
                </a:solidFill>
                <a:latin typeface="Aptos"/>
              </a:rPr>
              <a:t>Hydrograph, Hover Cards, and Forecast Windows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4023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586676"/>
                </a:solidFill>
                <a:latin typeface="Aptos"/>
              </a:rPr>
              <a:t>FloodGuard AI Disaster Management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86676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47104" y="1024128"/>
            <a:ext cx="4800600" cy="4846320"/>
          </a:xfrm>
          <a:prstGeom prst="roundRect">
            <a:avLst/>
          </a:prstGeom>
          <a:solidFill>
            <a:srgbClr val="E9EFF6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onitoring-detail-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0782" y="1024128"/>
            <a:ext cx="2393244" cy="4846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1298448"/>
            <a:ext cx="544068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32"/>
              </a:spcAft>
              <a:defRPr sz="1260">
                <a:solidFill>
                  <a:srgbClr val="16212D"/>
                </a:solidFill>
                <a:latin typeface="Aptos"/>
              </a:defRPr>
            </a:pPr>
            <a:r>
              <a:t>- Hover cards show compact station facts without triggering heavy fetches on every mouse move.</a:t>
            </a:r>
          </a:p>
          <a:p>
            <a:pPr>
              <a:spcAft>
                <a:spcPts val="432"/>
              </a:spcAft>
              <a:defRPr sz="1260">
                <a:solidFill>
                  <a:srgbClr val="16212D"/>
                </a:solidFill>
                <a:latin typeface="Aptos"/>
              </a:defRPr>
            </a:pPr>
            <a:r>
              <a:t>- Pinned station details retain original readings, hydrograph, and upstream network context.</a:t>
            </a:r>
          </a:p>
          <a:p>
            <a:pPr>
              <a:spcAft>
                <a:spcPts val="432"/>
              </a:spcAft>
              <a:defRPr sz="1260">
                <a:solidFill>
                  <a:srgbClr val="16212D"/>
                </a:solidFill>
                <a:latin typeface="Aptos"/>
              </a:defRPr>
            </a:pPr>
            <a:r>
              <a:t>- Discharge forecast tab adds a larger chart with observed history, modeled history, forecast days, selectable legend, table, and CSV download.</a:t>
            </a:r>
          </a:p>
          <a:p>
            <a:pPr>
              <a:spcAft>
                <a:spcPts val="432"/>
              </a:spcAft>
              <a:defRPr sz="1260">
                <a:solidFill>
                  <a:srgbClr val="16212D"/>
                </a:solidFill>
                <a:latin typeface="Aptos"/>
              </a:defRPr>
            </a:pPr>
            <a:r>
              <a:t>- Observed-history calls are abortable and cached; stale readings and missing thresholds are labeled rather than inferred.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4892040"/>
            <a:ext cx="25603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4892040"/>
            <a:ext cx="73152" cy="749808"/>
          </a:xfrm>
          <a:prstGeom prst="rect">
            <a:avLst/>
          </a:prstGeom>
          <a:solidFill>
            <a:srgbClr val="009488"/>
          </a:solidFill>
          <a:ln>
            <a:solidFill>
              <a:srgbClr val="00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029200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91F37"/>
                </a:solidFill>
                <a:latin typeface="Aptos"/>
              </a:rPr>
              <a:t>Accessibility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330952"/>
            <a:ext cx="2240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86676"/>
                </a:solidFill>
                <a:latin typeface="Aptos"/>
              </a:rPr>
              <a:t>Keyboard focus proxy, Enter to pin, Escape to dismiss.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56432" y="4892040"/>
            <a:ext cx="25603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56432" y="4892040"/>
            <a:ext cx="73152" cy="749808"/>
          </a:xfrm>
          <a:prstGeom prst="rect">
            <a:avLst/>
          </a:prstGeom>
          <a:solidFill>
            <a:srgbClr val="2472C8"/>
          </a:solidFill>
          <a:ln>
            <a:solidFill>
              <a:srgbClr val="247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1024" y="5029200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91F37"/>
                </a:solidFill>
                <a:latin typeface="Aptos"/>
              </a:rPr>
              <a:t>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1024" y="5330952"/>
            <a:ext cx="2240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86676"/>
                </a:solidFill>
                <a:latin typeface="Aptos"/>
              </a:rPr>
              <a:t>Large networks use native MapLibre layers instead of DOM markers.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009488"/>
                </a:solidFill>
                <a:latin typeface="Aptos"/>
              </a:rPr>
              <a:t>RESPONSE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91F37"/>
                </a:solidFill>
                <a:latin typeface="Aptos"/>
              </a:rPr>
              <a:t>Alerts and Incident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4023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586676"/>
                </a:solidFill>
                <a:latin typeface="Aptos"/>
              </a:rPr>
              <a:t>FloodGuard AI Disaster Management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86676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6208" y="1115568"/>
            <a:ext cx="5074920" cy="443484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389888"/>
            <a:ext cx="4526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091F37"/>
                </a:solidFill>
                <a:latin typeface="Aptos"/>
              </a:rPr>
              <a:t>Alert -&gt; Incident -&gt; Activity Trail</a:t>
            </a:r>
          </a:p>
        </p:txBody>
      </p:sp>
      <p:sp>
        <p:nvSpPr>
          <p:cNvPr id="8" name="Oval 7"/>
          <p:cNvSpPr/>
          <p:nvPr/>
        </p:nvSpPr>
        <p:spPr>
          <a:xfrm>
            <a:off x="6656832" y="2212848"/>
            <a:ext cx="548640" cy="548640"/>
          </a:xfrm>
          <a:prstGeom prst="ellipse">
            <a:avLst/>
          </a:prstGeom>
          <a:solidFill>
            <a:srgbClr val="2472C8"/>
          </a:solidFill>
          <a:ln>
            <a:solidFill>
              <a:srgbClr val="247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56832" y="2340864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944368"/>
            <a:ext cx="10607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16212D"/>
                </a:solidFill>
                <a:latin typeface="Aptos"/>
              </a:rPr>
              <a:t>Threshold or risk signal</a:t>
            </a:r>
          </a:p>
        </p:txBody>
      </p:sp>
      <p:sp>
        <p:nvSpPr>
          <p:cNvPr id="11" name="Oval 10"/>
          <p:cNvSpPr/>
          <p:nvPr/>
        </p:nvSpPr>
        <p:spPr>
          <a:xfrm>
            <a:off x="7735824" y="2212848"/>
            <a:ext cx="548640" cy="548640"/>
          </a:xfrm>
          <a:prstGeom prst="ellipse">
            <a:avLst/>
          </a:prstGeom>
          <a:solidFill>
            <a:srgbClr val="E68034"/>
          </a:solidFill>
          <a:ln>
            <a:solidFill>
              <a:srgbClr val="E68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35824" y="2340864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9792" y="2944368"/>
            <a:ext cx="10607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16212D"/>
                </a:solidFill>
                <a:latin typeface="Aptos"/>
              </a:rPr>
              <a:t>Alert record</a:t>
            </a:r>
          </a:p>
        </p:txBody>
      </p:sp>
      <p:sp>
        <p:nvSpPr>
          <p:cNvPr id="14" name="Oval 13"/>
          <p:cNvSpPr/>
          <p:nvPr/>
        </p:nvSpPr>
        <p:spPr>
          <a:xfrm>
            <a:off x="8814816" y="2212848"/>
            <a:ext cx="548640" cy="548640"/>
          </a:xfrm>
          <a:prstGeom prst="ellipse">
            <a:avLst/>
          </a:prstGeom>
          <a:solidFill>
            <a:srgbClr val="CA3939"/>
          </a:solidFill>
          <a:ln>
            <a:solidFill>
              <a:srgbClr val="CA3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14816" y="2340864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58784" y="2944368"/>
            <a:ext cx="10607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16212D"/>
                </a:solidFill>
                <a:latin typeface="Aptos"/>
              </a:rPr>
              <a:t>Linked incident</a:t>
            </a:r>
          </a:p>
        </p:txBody>
      </p:sp>
      <p:sp>
        <p:nvSpPr>
          <p:cNvPr id="17" name="Oval 16"/>
          <p:cNvSpPr/>
          <p:nvPr/>
        </p:nvSpPr>
        <p:spPr>
          <a:xfrm>
            <a:off x="9893808" y="2212848"/>
            <a:ext cx="548640" cy="548640"/>
          </a:xfrm>
          <a:prstGeom prst="ellipse">
            <a:avLst/>
          </a:prstGeom>
          <a:solidFill>
            <a:srgbClr val="009488"/>
          </a:solidFill>
          <a:ln>
            <a:solidFill>
              <a:srgbClr val="00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93808" y="2340864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37776" y="2944368"/>
            <a:ext cx="10607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16212D"/>
                </a:solidFill>
                <a:latin typeface="Aptos"/>
              </a:rPr>
              <a:t>Timeline event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1325880"/>
            <a:ext cx="5230368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32"/>
              </a:spcAft>
              <a:defRPr sz="1280">
                <a:solidFill>
                  <a:srgbClr val="16212D"/>
                </a:solidFill>
                <a:latin typeface="Aptos"/>
              </a:defRPr>
            </a:pPr>
            <a:r>
              <a:t>- Alerts table filters all, operational, and simulated-flow alerts.</a:t>
            </a:r>
          </a:p>
          <a:p>
            <a:pPr>
              <a:spcAft>
                <a:spcPts val="432"/>
              </a:spcAft>
              <a:defRPr sz="1280">
                <a:solidFill>
                  <a:srgbClr val="16212D"/>
                </a:solidFill>
                <a:latin typeface="Aptos"/>
              </a:defRPr>
            </a:pPr>
            <a:r>
              <a:t>- Each alert records station or location, severity, message, source, timestamp, threshold metadata, and linked incident.</a:t>
            </a:r>
          </a:p>
          <a:p>
            <a:pPr>
              <a:spcAft>
                <a:spcPts val="432"/>
              </a:spcAft>
              <a:defRPr sz="1280">
                <a:solidFill>
                  <a:srgbClr val="16212D"/>
                </a:solidFill>
                <a:latin typeface="Aptos"/>
              </a:defRPr>
            </a:pPr>
            <a:r>
              <a:t>- Incident table tracks severity, status, confidence, source, creation time, and detail drawer.</a:t>
            </a:r>
          </a:p>
          <a:p>
            <a:pPr>
              <a:spcAft>
                <a:spcPts val="432"/>
              </a:spcAft>
              <a:defRPr sz="1280">
                <a:solidFill>
                  <a:srgbClr val="16212D"/>
                </a:solidFill>
                <a:latin typeface="Aptos"/>
              </a:defRPr>
            </a:pPr>
            <a:r>
              <a:t>- Activity timeline records risk updates, monitoring mode changes, incident creation, citizen reports, confirmations, and required alerts.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681728"/>
            <a:ext cx="256032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4681728"/>
            <a:ext cx="73152" cy="804672"/>
          </a:xfrm>
          <a:prstGeom prst="rect">
            <a:avLst/>
          </a:prstGeom>
          <a:solidFill>
            <a:srgbClr val="E68034"/>
          </a:solidFill>
          <a:ln>
            <a:solidFill>
              <a:srgbClr val="E68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818888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91F37"/>
                </a:solidFill>
                <a:latin typeface="Aptos"/>
              </a:rPr>
              <a:t>Auditability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12064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86676"/>
                </a:solidFill>
                <a:latin typeface="Aptos"/>
              </a:rPr>
              <a:t>Operational and simulated records are visually separated.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56432" y="4681728"/>
            <a:ext cx="256032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56432" y="4681728"/>
            <a:ext cx="73152" cy="804672"/>
          </a:xfrm>
          <a:prstGeom prst="rect">
            <a:avLst/>
          </a:prstGeom>
          <a:solidFill>
            <a:srgbClr val="009488"/>
          </a:solidFill>
          <a:ln>
            <a:solidFill>
              <a:srgbClr val="00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21024" y="4818888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91F37"/>
                </a:solidFill>
                <a:latin typeface="Aptos"/>
              </a:rPr>
              <a:t>Workflow 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21024" y="512064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86676"/>
                </a:solidFill>
                <a:latin typeface="Aptos"/>
              </a:rPr>
              <a:t>Current screens are ready for approval and escalation layers.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009488"/>
                </a:solidFill>
                <a:latin typeface="Aptos"/>
              </a:rPr>
              <a:t>FIELD INPUT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91F37"/>
                </a:solidFill>
                <a:latin typeface="Aptos"/>
              </a:rPr>
              <a:t>Citizen Reports and Verification Queue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4023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586676"/>
                </a:solidFill>
                <a:latin typeface="Aptos"/>
              </a:rPr>
              <a:t>FloodGuard AI Disaster Management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86676"/>
                </a:solidFill>
                <a:latin typeface="Aptos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078992"/>
            <a:ext cx="5303520" cy="4709160"/>
          </a:xfrm>
          <a:prstGeom prst="roundRect">
            <a:avLst/>
          </a:prstGeom>
          <a:solidFill>
            <a:srgbClr val="E9EFF6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onitoring-tab-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592072"/>
            <a:ext cx="5303520" cy="3683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1298448"/>
            <a:ext cx="5230368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32"/>
              </a:spcAft>
              <a:defRPr sz="1250">
                <a:solidFill>
                  <a:srgbClr val="16212D"/>
                </a:solidFill>
                <a:latin typeface="Aptos"/>
              </a:defRPr>
            </a:pPr>
            <a:r>
              <a:t>- Reports are fetched from the backend database and newly created reports are saved back through the API.</a:t>
            </a:r>
          </a:p>
          <a:p>
            <a:pPr>
              <a:spcAft>
                <a:spcPts val="432"/>
              </a:spcAft>
              <a:defRPr sz="1250">
                <a:solidFill>
                  <a:srgbClr val="16212D"/>
                </a:solidFill>
                <a:latin typeface="Aptos"/>
              </a:defRPr>
            </a:pPr>
            <a:r>
              <a:t>- Full report entry supports operational location, latitude, longitude, Google Maps link parsing, browser location, water depth, source, image URL, and video URL.</a:t>
            </a:r>
          </a:p>
          <a:p>
            <a:pPr>
              <a:spcAft>
                <a:spcPts val="432"/>
              </a:spcAft>
              <a:defRPr sz="1250">
                <a:solidFill>
                  <a:srgbClr val="16212D"/>
                </a:solidFill>
                <a:latin typeface="Aptos"/>
              </a:defRPr>
            </a:pPr>
            <a:r>
              <a:t>- Geotagged image upload reads EXIF GPS when present; otherwise image GPS fields remain visible as null.</a:t>
            </a:r>
          </a:p>
          <a:p>
            <a:pPr>
              <a:spcAft>
                <a:spcPts val="432"/>
              </a:spcAft>
              <a:defRPr sz="1250">
                <a:solidFill>
                  <a:srgbClr val="16212D"/>
                </a:solidFill>
                <a:latin typeface="Aptos"/>
              </a:defRPr>
            </a:pPr>
            <a:r>
              <a:t>- Reports stay highlighted as live for one minute, appear in a scrollable list, can be marked important, and can be closed in the database.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4892040"/>
            <a:ext cx="25146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4892040"/>
            <a:ext cx="73152" cy="749808"/>
          </a:xfrm>
          <a:prstGeom prst="rect">
            <a:avLst/>
          </a:prstGeom>
          <a:solidFill>
            <a:srgbClr val="2472C8"/>
          </a:solidFill>
          <a:ln>
            <a:solidFill>
              <a:srgbClr val="247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02920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91F37"/>
                </a:solidFill>
                <a:latin typeface="Aptos"/>
              </a:rPr>
              <a:t>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330952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86676"/>
                </a:solidFill>
                <a:latin typeface="Aptos"/>
              </a:rPr>
              <a:t>Required description and numeric coordinate/depth checks.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01568" y="4892040"/>
            <a:ext cx="25146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4892040"/>
            <a:ext cx="73152" cy="749808"/>
          </a:xfrm>
          <a:prstGeom prst="rect">
            <a:avLst/>
          </a:prstGeom>
          <a:solidFill>
            <a:srgbClr val="009488"/>
          </a:solidFill>
          <a:ln>
            <a:solidFill>
              <a:srgbClr val="00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502920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91F37"/>
                </a:solidFill>
                <a:latin typeface="Aptos"/>
              </a:rPr>
              <a:t>Map 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5330952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86676"/>
                </a:solidFill>
                <a:latin typeface="Aptos"/>
              </a:rPr>
              <a:t>Google Maps search and coordinates help field localization.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009488"/>
                </a:solidFill>
                <a:latin typeface="Aptos"/>
              </a:rPr>
              <a:t>EXPOSURE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91F37"/>
                </a:solidFill>
                <a:latin typeface="Aptos"/>
              </a:rPr>
              <a:t>Flood-Affected Population and Impact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4023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586676"/>
                </a:solidFill>
                <a:latin typeface="Aptos"/>
              </a:rPr>
              <a:t>FloodGuard AI Disaster Management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86676"/>
                </a:solidFill>
                <a:latin typeface="Apto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537667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32"/>
              </a:spcAft>
              <a:defRPr sz="1240">
                <a:solidFill>
                  <a:srgbClr val="16212D"/>
                </a:solidFill>
                <a:latin typeface="Aptos"/>
              </a:defRPr>
            </a:pPr>
            <a:r>
              <a:t>- GIS Operations includes a population panel that loads latest analysis or starts a background calculation job.</a:t>
            </a:r>
          </a:p>
          <a:p>
            <a:pPr>
              <a:spcAft>
                <a:spcPts val="432"/>
              </a:spcAft>
              <a:defRPr sz="1240">
                <a:solidFill>
                  <a:srgbClr val="16212D"/>
                </a:solidFill>
                <a:latin typeface="Aptos"/>
              </a:defRPr>
            </a:pPr>
            <a:r>
              <a:t>- Sources include historical satellite water reference, user-provided flood GeoJSON, configured segmentation output, or explicit synthetic sample.</a:t>
            </a:r>
          </a:p>
          <a:p>
            <a:pPr>
              <a:spcAft>
                <a:spcPts val="432"/>
              </a:spcAft>
              <a:defRPr sz="1240">
                <a:solidFill>
                  <a:srgbClr val="16212D"/>
                </a:solidFill>
                <a:latin typeface="Aptos"/>
              </a:defRPr>
            </a:pPr>
            <a:r>
              <a:t>- Cards summarize exposed people, percentage of known population, mapped-water coverage with population data, and affected settlements.</a:t>
            </a:r>
          </a:p>
          <a:p>
            <a:pPr>
              <a:spcAft>
                <a:spcPts val="432"/>
              </a:spcAft>
              <a:defRPr sz="1240">
                <a:solidFill>
                  <a:srgbClr val="16212D"/>
                </a:solidFill>
                <a:latin typeface="Aptos"/>
              </a:defRPr>
            </a:pPr>
            <a:r>
              <a:t>- Map layers include flood extent, population density, administrative exposure, and affected settlements.</a:t>
            </a:r>
          </a:p>
          <a:p>
            <a:pPr>
              <a:spcAft>
                <a:spcPts val="432"/>
              </a:spcAft>
              <a:defRPr sz="1240">
                <a:solidFill>
                  <a:srgbClr val="16212D"/>
                </a:solidFill>
                <a:latin typeface="Aptos"/>
              </a:defRPr>
            </a:pPr>
            <a:r>
              <a:t>- Exposure API also supports roads, buildings, hospitals, schools, settlements, summary artifacts, audits, and layer downloads.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234440"/>
            <a:ext cx="4983480" cy="443484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572768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91F37"/>
                </a:solidFill>
                <a:latin typeface="Aptos"/>
              </a:rPr>
              <a:t>Trimmu / Jhang Pilot Reference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2212848"/>
            <a:ext cx="1874519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8856" y="2322576"/>
            <a:ext cx="161848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586676"/>
                </a:solidFill>
                <a:latin typeface="Aptos"/>
              </a:rPr>
              <a:t>EXPOSED PEOPLE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48856" y="2514600"/>
            <a:ext cx="161848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CA3939"/>
                </a:solidFill>
                <a:latin typeface="Aptos"/>
              </a:rPr>
              <a:t>313,436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2212848"/>
            <a:ext cx="1874519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51976" y="2322576"/>
            <a:ext cx="161848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586676"/>
                </a:solidFill>
                <a:latin typeface="Aptos"/>
              </a:rPr>
              <a:t>KNOWN POP.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51976" y="2514600"/>
            <a:ext cx="161848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E68034"/>
                </a:solidFill>
                <a:latin typeface="Aptos"/>
              </a:rPr>
              <a:t>9.66%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3255264"/>
            <a:ext cx="1874519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48856" y="3364992"/>
            <a:ext cx="161848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586676"/>
                </a:solidFill>
                <a:latin typeface="Aptos"/>
              </a:rPr>
              <a:t>WATER COVERAGE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48856" y="3557016"/>
            <a:ext cx="161848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472C8"/>
                </a:solidFill>
                <a:latin typeface="Aptos"/>
              </a:rPr>
              <a:t>57.44%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23960" y="3255264"/>
            <a:ext cx="1874519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51976" y="3364992"/>
            <a:ext cx="161848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586676"/>
                </a:solidFill>
                <a:latin typeface="Aptos"/>
              </a:rPr>
              <a:t>SETTLEMENTS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51976" y="3557016"/>
            <a:ext cx="161848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439666"/>
                </a:solidFill>
                <a:latin typeface="Aptos"/>
              </a:rPr>
              <a:t>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4407408"/>
            <a:ext cx="39776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86676"/>
                </a:solidFill>
                <a:latin typeface="Aptos"/>
              </a:rPr>
              <a:t>The deck keeps these values labeled as preliminary satellite reference analysis, not a live forecast or full affected-person count.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009488"/>
                </a:solidFill>
                <a:latin typeface="Aptos"/>
              </a:rPr>
              <a:t>EXTERNAL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91F37"/>
                </a:solidFill>
                <a:latin typeface="Aptos"/>
              </a:rPr>
              <a:t>Google Flood Hub, Water Layers, and 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4023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586676"/>
                </a:solidFill>
                <a:latin typeface="Aptos"/>
              </a:rPr>
              <a:t>FloodGuard AI Disaster Management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86676"/>
                </a:solidFill>
                <a:latin typeface="Aptos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06440" y="1078992"/>
            <a:ext cx="5806440" cy="4681728"/>
          </a:xfrm>
          <a:prstGeom prst="roundRect">
            <a:avLst/>
          </a:prstGeom>
          <a:solidFill>
            <a:srgbClr val="E9EFF6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google-flood-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323086"/>
            <a:ext cx="5806440" cy="41935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1298448"/>
            <a:ext cx="48463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32"/>
              </a:spcAft>
              <a:defRPr sz="1240">
                <a:solidFill>
                  <a:srgbClr val="16212D"/>
                </a:solidFill>
                <a:latin typeface="Aptos"/>
              </a:defRPr>
            </a:pPr>
            <a:r>
              <a:t>- Google Flood Hub side navigation opens the official Flood Hub map in a new browser tab.</a:t>
            </a:r>
          </a:p>
          <a:p>
            <a:pPr>
              <a:spcAft>
                <a:spcPts val="432"/>
              </a:spcAft>
              <a:defRPr sz="1240">
                <a:solidFill>
                  <a:srgbClr val="16212D"/>
                </a:solidFill>
                <a:latin typeface="Aptos"/>
              </a:defRPr>
            </a:pPr>
            <a:r>
              <a:t>- GIS toggle displays official Flood Forecasting API river gauge points when credentials are configured.</a:t>
            </a:r>
          </a:p>
          <a:p>
            <a:pPr>
              <a:spcAft>
                <a:spcPts val="432"/>
              </a:spcAft>
              <a:defRPr sz="1240">
                <a:solidFill>
                  <a:srgbClr val="16212D"/>
                </a:solidFill>
                <a:latin typeface="Aptos"/>
              </a:defRPr>
            </a:pPr>
            <a:r>
              <a:t>- Markers use severity colors for extreme, danger, warning, normal, and no-data statuses with issue and forecast interval details.</a:t>
            </a:r>
          </a:p>
          <a:p>
            <a:pPr>
              <a:spcAft>
                <a:spcPts val="432"/>
              </a:spcAft>
              <a:defRPr sz="1240">
                <a:solidFill>
                  <a:srgbClr val="16212D"/>
                </a:solidFill>
                <a:latin typeface="Aptos"/>
              </a:defRPr>
            </a:pPr>
            <a:r>
              <a:t>- Response-resource layers can plot shelters, hospitals, and emergency contacts from authority-supplied data.</a:t>
            </a:r>
          </a:p>
          <a:p>
            <a:pPr>
              <a:spcAft>
                <a:spcPts val="432"/>
              </a:spcAft>
              <a:defRPr sz="1240">
                <a:solidFill>
                  <a:srgbClr val="16212D"/>
                </a:solidFill>
                <a:latin typeface="Aptos"/>
              </a:defRPr>
            </a:pPr>
            <a:r>
              <a:t>- Water intelligence separates GIS water features, station metadata, modeled forecast points, and observed gauge status.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4983480"/>
            <a:ext cx="24231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4983480"/>
            <a:ext cx="73152" cy="749808"/>
          </a:xfrm>
          <a:prstGeom prst="rect">
            <a:avLst/>
          </a:prstGeom>
          <a:solidFill>
            <a:srgbClr val="CA3939"/>
          </a:solidFill>
          <a:ln>
            <a:solidFill>
              <a:srgbClr val="CA3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12064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91F37"/>
                </a:solidFill>
                <a:latin typeface="Aptos"/>
              </a:rPr>
              <a:t>No substitution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422392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86676"/>
                </a:solidFill>
                <a:latin typeface="Aptos"/>
              </a:rPr>
              <a:t>Without Google credentials, no fake forecasts are shown.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0128" y="4983480"/>
            <a:ext cx="24231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10128" y="4983480"/>
            <a:ext cx="73152" cy="749808"/>
          </a:xfrm>
          <a:prstGeom prst="rect">
            <a:avLst/>
          </a:prstGeom>
          <a:solidFill>
            <a:srgbClr val="2472C8"/>
          </a:solidFill>
          <a:ln>
            <a:solidFill>
              <a:srgbClr val="247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512064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91F37"/>
                </a:solidFill>
                <a:latin typeface="Aptos"/>
              </a:rPr>
              <a:t>Attribution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5422392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86676"/>
                </a:solidFill>
                <a:latin typeface="Aptos"/>
              </a:rPr>
              <a:t>Flood Forecasting API data is labeled with source links.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009488"/>
                </a:solidFill>
                <a:latin typeface="Aptos"/>
              </a:rPr>
              <a:t>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91F37"/>
                </a:solidFill>
                <a:latin typeface="Aptos"/>
              </a:rPr>
              <a:t>Monitoring Scenario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4023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586676"/>
                </a:solidFill>
                <a:latin typeface="Aptos"/>
              </a:rPr>
              <a:t>FloodGuard AI Disaster Management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86676"/>
                </a:solidFill>
                <a:latin typeface="Aptos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532180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32"/>
              </a:spcAft>
              <a:defRPr sz="1260">
                <a:solidFill>
                  <a:srgbClr val="16212D"/>
                </a:solidFill>
                <a:latin typeface="Aptos"/>
              </a:defRPr>
            </a:pPr>
            <a:r>
              <a:t>- Simulation page loads monitoring stations and lets users select station, measurement type, unit, start time, and gauge reference.</a:t>
            </a:r>
          </a:p>
          <a:p>
            <a:pPr>
              <a:spcAft>
                <a:spcPts val="432"/>
              </a:spcAft>
              <a:defRPr sz="1260">
                <a:solidFill>
                  <a:srgbClr val="16212D"/>
                </a:solidFill>
                <a:latin typeface="Aptos"/>
              </a:defRPr>
            </a:pPr>
            <a:r>
              <a:t>- Threshold source can be saved database thresholds or custom test thresholds.</a:t>
            </a:r>
          </a:p>
          <a:p>
            <a:pPr>
              <a:spcAft>
                <a:spcPts val="432"/>
              </a:spcAft>
              <a:defRPr sz="1260">
                <a:solidFill>
                  <a:srgbClr val="16212D"/>
                </a:solidFill>
                <a:latin typeface="Aptos"/>
              </a:defRPr>
            </a:pPr>
            <a:r>
              <a:t>- Testing readings support offsets, values, p25/p75 bands, expected level labels, profiles, and up to 240 rows.</a:t>
            </a:r>
          </a:p>
          <a:p>
            <a:pPr>
              <a:spcAft>
                <a:spcPts val="432"/>
              </a:spcAft>
              <a:defRPr sz="1260">
                <a:solidFill>
                  <a:srgbClr val="16212D"/>
                </a:solidFill>
                <a:latin typeface="Aptos"/>
              </a:defRPr>
            </a:pPr>
            <a:r>
              <a:t>- Play saves readings, creates alerts and incidents on threshold crossing, and pushes users to the generated records.</a:t>
            </a:r>
          </a:p>
          <a:p>
            <a:pPr>
              <a:spcAft>
                <a:spcPts val="432"/>
              </a:spcAft>
              <a:defRPr sz="1260">
                <a:solidFill>
                  <a:srgbClr val="16212D"/>
                </a:solidFill>
                <a:latin typeface="Aptos"/>
              </a:defRPr>
            </a:pPr>
            <a:r>
              <a:t>- Simulation mode is clearly stamped and separated from live operational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19088" y="1234440"/>
            <a:ext cx="4709160" cy="443484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9984" y="1591056"/>
            <a:ext cx="4069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91F37"/>
                </a:solidFill>
                <a:latin typeface="Aptos"/>
              </a:rPr>
              <a:t>Scenario 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95160" y="2240280"/>
            <a:ext cx="356616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95160" y="2240280"/>
            <a:ext cx="73152" cy="475488"/>
          </a:xfrm>
          <a:prstGeom prst="rect">
            <a:avLst/>
          </a:prstGeom>
          <a:solidFill>
            <a:srgbClr val="2472C8"/>
          </a:solidFill>
          <a:ln>
            <a:solidFill>
              <a:srgbClr val="247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59752" y="237744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91F37"/>
                </a:solidFill>
                <a:latin typeface="Aptos"/>
              </a:rPr>
              <a:t>Configure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752" y="2679192"/>
            <a:ext cx="3246120" cy="-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86676"/>
                </a:solidFill>
                <a:latin typeface="Aptos"/>
              </a:rPr>
              <a:t> </a:t>
            </a:r>
          </a:p>
        </p:txBody>
      </p:sp>
      <p:sp>
        <p:nvSpPr>
          <p:cNvPr id="13" name="Can 12"/>
          <p:cNvSpPr/>
          <p:nvPr/>
        </p:nvSpPr>
        <p:spPr>
          <a:xfrm>
            <a:off x="8567928" y="2770632"/>
            <a:ext cx="256032" cy="256032"/>
          </a:xfrm>
          <a:prstGeom prst="can">
            <a:avLst/>
          </a:prstGeom>
          <a:solidFill>
            <a:srgbClr val="A8B5C2"/>
          </a:solidFill>
          <a:ln>
            <a:solidFill>
              <a:srgbClr val="A8B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95160" y="2971800"/>
            <a:ext cx="356616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2971800"/>
            <a:ext cx="73152" cy="475488"/>
          </a:xfrm>
          <a:prstGeom prst="rect">
            <a:avLst/>
          </a:prstGeom>
          <a:solidFill>
            <a:srgbClr val="009488"/>
          </a:solidFill>
          <a:ln>
            <a:solidFill>
              <a:srgbClr val="00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59752" y="310896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91F37"/>
                </a:solidFill>
                <a:latin typeface="Aptos"/>
              </a:rPr>
              <a:t>Add readings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9752" y="3410712"/>
            <a:ext cx="3246120" cy="-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86676"/>
                </a:solidFill>
                <a:latin typeface="Aptos"/>
              </a:rPr>
              <a:t> </a:t>
            </a:r>
          </a:p>
        </p:txBody>
      </p:sp>
      <p:sp>
        <p:nvSpPr>
          <p:cNvPr id="18" name="Can 17"/>
          <p:cNvSpPr/>
          <p:nvPr/>
        </p:nvSpPr>
        <p:spPr>
          <a:xfrm>
            <a:off x="8567928" y="3502152"/>
            <a:ext cx="256032" cy="256032"/>
          </a:xfrm>
          <a:prstGeom prst="can">
            <a:avLst/>
          </a:prstGeom>
          <a:solidFill>
            <a:srgbClr val="A8B5C2"/>
          </a:solidFill>
          <a:ln>
            <a:solidFill>
              <a:srgbClr val="A8B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995160" y="3703320"/>
            <a:ext cx="356616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95160" y="3703320"/>
            <a:ext cx="73152" cy="475488"/>
          </a:xfrm>
          <a:prstGeom prst="rect">
            <a:avLst/>
          </a:prstGeom>
          <a:solidFill>
            <a:srgbClr val="E68034"/>
          </a:solidFill>
          <a:ln>
            <a:solidFill>
              <a:srgbClr val="E68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59752" y="384048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91F37"/>
                </a:solidFill>
                <a:latin typeface="Aptos"/>
              </a:rPr>
              <a:t>Play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4142232"/>
            <a:ext cx="3246120" cy="-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86676"/>
                </a:solidFill>
                <a:latin typeface="Aptos"/>
              </a:rPr>
              <a:t> </a:t>
            </a:r>
          </a:p>
        </p:txBody>
      </p:sp>
      <p:sp>
        <p:nvSpPr>
          <p:cNvPr id="23" name="Can 22"/>
          <p:cNvSpPr/>
          <p:nvPr/>
        </p:nvSpPr>
        <p:spPr>
          <a:xfrm>
            <a:off x="8567928" y="4233672"/>
            <a:ext cx="256032" cy="256032"/>
          </a:xfrm>
          <a:prstGeom prst="can">
            <a:avLst/>
          </a:prstGeom>
          <a:solidFill>
            <a:srgbClr val="A8B5C2"/>
          </a:solidFill>
          <a:ln>
            <a:solidFill>
              <a:srgbClr val="A8B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95160" y="4434840"/>
            <a:ext cx="356616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95160" y="4434840"/>
            <a:ext cx="73152" cy="475488"/>
          </a:xfrm>
          <a:prstGeom prst="rect">
            <a:avLst/>
          </a:prstGeom>
          <a:solidFill>
            <a:srgbClr val="CA3939"/>
          </a:solidFill>
          <a:ln>
            <a:solidFill>
              <a:srgbClr val="CA3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59752" y="457200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91F37"/>
                </a:solidFill>
                <a:latin typeface="Aptos"/>
              </a:rPr>
              <a:t>Review alerts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59752" y="4873752"/>
            <a:ext cx="3246120" cy="-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86676"/>
                </a:solidFill>
                <a:latin typeface="Aptos"/>
              </a:rPr>
              <a:t> </a:t>
            </a:r>
          </a:p>
        </p:txBody>
      </p:sp>
      <p:sp>
        <p:nvSpPr>
          <p:cNvPr id="28" name="Can 27"/>
          <p:cNvSpPr/>
          <p:nvPr/>
        </p:nvSpPr>
        <p:spPr>
          <a:xfrm>
            <a:off x="8567928" y="4965192"/>
            <a:ext cx="256032" cy="256032"/>
          </a:xfrm>
          <a:prstGeom prst="can">
            <a:avLst/>
          </a:prstGeom>
          <a:solidFill>
            <a:srgbClr val="A8B5C2"/>
          </a:solidFill>
          <a:ln>
            <a:solidFill>
              <a:srgbClr val="A8B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009488"/>
                </a:solidFill>
                <a:latin typeface="Aptos"/>
              </a:rPr>
              <a:t>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91F37"/>
                </a:solidFill>
                <a:latin typeface="Aptos"/>
              </a:rPr>
              <a:t>Backend, Data, and Quality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4023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586676"/>
                </a:solidFill>
                <a:latin typeface="Aptos"/>
              </a:rPr>
              <a:t>FloodGuard AI Disaster Management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86676"/>
                </a:solidFill>
                <a:latin typeface="Aptos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55778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32"/>
              </a:spcAft>
              <a:defRPr sz="1230">
                <a:solidFill>
                  <a:srgbClr val="16212D"/>
                </a:solidFill>
                <a:latin typeface="Aptos"/>
              </a:defRPr>
            </a:pPr>
            <a:r>
              <a:t>- FastAPI backend exposes health, system status, weather, river, flood risk, GIS, exposure, population, reports, incidents, alerts, resources, automation, and simulation routes.</a:t>
            </a:r>
          </a:p>
          <a:p>
            <a:pPr>
              <a:spcAft>
                <a:spcPts val="432"/>
              </a:spcAft>
              <a:defRPr sz="1230">
                <a:solidFill>
                  <a:srgbClr val="16212D"/>
                </a:solidFill>
                <a:latin typeface="Aptos"/>
              </a:defRPr>
            </a:pPr>
            <a:r>
              <a:t>- SQLite is default for local development; PostgreSQL is supported through DATABASE_URL.</a:t>
            </a:r>
          </a:p>
          <a:p>
            <a:pPr>
              <a:spcAft>
                <a:spcPts val="432"/>
              </a:spcAft>
              <a:defRPr sz="1230">
                <a:solidFill>
                  <a:srgbClr val="16212D"/>
                </a:solidFill>
                <a:latin typeface="Aptos"/>
              </a:defRPr>
            </a:pPr>
            <a:r>
              <a:t>- Live providers include Open-Meteo weather and GloFAS modeled discharge; Google Flood API is optional and credential-gated.</a:t>
            </a:r>
          </a:p>
          <a:p>
            <a:pPr>
              <a:spcAft>
                <a:spcPts val="432"/>
              </a:spcAft>
              <a:defRPr sz="1230">
                <a:solidFill>
                  <a:srgbClr val="16212D"/>
                </a:solidFill>
                <a:latin typeface="Aptos"/>
              </a:defRPr>
            </a:pPr>
            <a:r>
              <a:t>- ML artifacts are versioned with model cards; underperforming research models are explicitly not deployed.</a:t>
            </a:r>
          </a:p>
          <a:p>
            <a:pPr>
              <a:spcAft>
                <a:spcPts val="432"/>
              </a:spcAft>
              <a:defRPr sz="1230">
                <a:solidFill>
                  <a:srgbClr val="16212D"/>
                </a:solidFill>
                <a:latin typeface="Aptos"/>
              </a:defRPr>
            </a:pPr>
            <a:r>
              <a:t>- Tests cover API behavior, GIS consistency, rainfall, river monitoring, model baselines, exposure, population, station history, simulation, and UI validations.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65392" y="1325880"/>
            <a:ext cx="4526280" cy="406908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39712" y="1627632"/>
            <a:ext cx="3977639" cy="5212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39712" y="1627632"/>
            <a:ext cx="73152" cy="521207"/>
          </a:xfrm>
          <a:prstGeom prst="rect">
            <a:avLst/>
          </a:prstGeom>
          <a:solidFill>
            <a:srgbClr val="2472C8"/>
          </a:solidFill>
          <a:ln>
            <a:solidFill>
              <a:srgbClr val="247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04304" y="1764792"/>
            <a:ext cx="36575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91F37"/>
                </a:solidFill>
                <a:latin typeface="Aptos"/>
              </a:rPr>
              <a:t>React + TypeScript + MapLibre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04304" y="2066544"/>
            <a:ext cx="3657599" cy="-9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86676"/>
                </a:solidFill>
                <a:latin typeface="Aptos"/>
              </a:rPr>
              <a:t>Authority dashboard and operational map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39712" y="2322576"/>
            <a:ext cx="3977639" cy="5212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39712" y="2322576"/>
            <a:ext cx="73152" cy="521207"/>
          </a:xfrm>
          <a:prstGeom prst="rect">
            <a:avLst/>
          </a:prstGeom>
          <a:solidFill>
            <a:srgbClr val="009488"/>
          </a:solidFill>
          <a:ln>
            <a:solidFill>
              <a:srgbClr val="00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04304" y="2459736"/>
            <a:ext cx="36575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91F37"/>
                </a:solidFill>
                <a:latin typeface="Aptos"/>
              </a:rPr>
              <a:t>FastAPI + SQLAlchemy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4304" y="2761488"/>
            <a:ext cx="3657599" cy="-9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86676"/>
                </a:solidFill>
                <a:latin typeface="Aptos"/>
              </a:rPr>
              <a:t>APIs, persistence, simulations, events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39712" y="3017520"/>
            <a:ext cx="3977639" cy="5212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39712" y="3017520"/>
            <a:ext cx="73152" cy="521207"/>
          </a:xfrm>
          <a:prstGeom prst="rect">
            <a:avLst/>
          </a:prstGeom>
          <a:solidFill>
            <a:srgbClr val="E68034"/>
          </a:solidFill>
          <a:ln>
            <a:solidFill>
              <a:srgbClr val="E68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04304" y="3154680"/>
            <a:ext cx="36575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91F37"/>
                </a:solidFill>
                <a:latin typeface="Aptos"/>
              </a:rPr>
              <a:t>Providers + cached assets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4304" y="3456432"/>
            <a:ext cx="3657599" cy="-9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86676"/>
                </a:solidFill>
                <a:latin typeface="Aptos"/>
              </a:rPr>
              <a:t>Weather, rivers, rainfall, Google, compressed GeoJSON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39712" y="3712464"/>
            <a:ext cx="3977639" cy="5212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39712" y="3712464"/>
            <a:ext cx="73152" cy="521207"/>
          </a:xfrm>
          <a:prstGeom prst="rect">
            <a:avLst/>
          </a:prstGeom>
          <a:solidFill>
            <a:srgbClr val="CA3939"/>
          </a:solidFill>
          <a:ln>
            <a:solidFill>
              <a:srgbClr val="CA3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04304" y="3849624"/>
            <a:ext cx="36575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91F37"/>
                </a:solidFill>
                <a:latin typeface="Aptos"/>
              </a:rPr>
              <a:t>Risk + ML services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04304" y="4151376"/>
            <a:ext cx="3657599" cy="-9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86676"/>
                </a:solidFill>
                <a:latin typeface="Aptos"/>
              </a:rPr>
              <a:t>Rule-based live scoring and gated model artifacts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39712" y="4407408"/>
            <a:ext cx="3977639" cy="5212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39712" y="4407408"/>
            <a:ext cx="73152" cy="521207"/>
          </a:xfrm>
          <a:prstGeom prst="rect">
            <a:avLst/>
          </a:prstGeom>
          <a:solidFill>
            <a:srgbClr val="439666"/>
          </a:solidFill>
          <a:ln>
            <a:solidFill>
              <a:srgbClr val="439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04304" y="4544568"/>
            <a:ext cx="36575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91F37"/>
                </a:solidFill>
                <a:latin typeface="Aptos"/>
              </a:rPr>
              <a:t>Tests + scripts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04304" y="4846320"/>
            <a:ext cx="3657599" cy="-9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86676"/>
                </a:solidFill>
                <a:latin typeface="Aptos"/>
              </a:rPr>
              <a:t>Backend, GIS, UI, exposure, and population validation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009488"/>
                </a:solidFill>
                <a:latin typeface="Aptos"/>
              </a:rPr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91F37"/>
                </a:solidFill>
                <a:latin typeface="Aptos"/>
              </a:rPr>
              <a:t>High-Value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4023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586676"/>
                </a:solidFill>
                <a:latin typeface="Aptos"/>
              </a:rPr>
              <a:t>FloodGuard AI Disaster Management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86676"/>
                </a:solidFill>
                <a:latin typeface="Aptos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25880"/>
            <a:ext cx="3401568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325880"/>
            <a:ext cx="73152" cy="1225296"/>
          </a:xfrm>
          <a:prstGeom prst="rect">
            <a:avLst/>
          </a:prstGeom>
          <a:solidFill>
            <a:srgbClr val="2472C8"/>
          </a:solidFill>
          <a:ln>
            <a:solidFill>
              <a:srgbClr val="247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3081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91F37"/>
                </a:solidFill>
                <a:latin typeface="Aptos"/>
              </a:rPr>
              <a:t>Governance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764792"/>
            <a:ext cx="308152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86676"/>
                </a:solidFill>
                <a:latin typeface="Aptos"/>
              </a:rPr>
              <a:t>Role-based login, report verification queues, approval chain, escalation to higher authorities, and signed action logs.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325880"/>
            <a:ext cx="3401568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25696" y="1325880"/>
            <a:ext cx="73152" cy="1225296"/>
          </a:xfrm>
          <a:prstGeom prst="rect">
            <a:avLst/>
          </a:prstGeom>
          <a:solidFill>
            <a:srgbClr val="CA3939"/>
          </a:solidFill>
          <a:ln>
            <a:solidFill>
              <a:srgbClr val="CA3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463040"/>
            <a:ext cx="3081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91F37"/>
                </a:solidFill>
                <a:latin typeface="Aptos"/>
              </a:rPr>
              <a:t>Warning dissemination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764792"/>
            <a:ext cx="308152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86676"/>
                </a:solidFill>
                <a:latin typeface="Aptos"/>
              </a:rPr>
              <a:t>SMS, WhatsApp, email, siren, CAP/alerting feeds, multilingual templates, and delivery confirmation.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93024" y="1325880"/>
            <a:ext cx="3401568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93024" y="1325880"/>
            <a:ext cx="73152" cy="1225296"/>
          </a:xfrm>
          <a:prstGeom prst="rect">
            <a:avLst/>
          </a:prstGeom>
          <a:solidFill>
            <a:srgbClr val="009488"/>
          </a:solidFill>
          <a:ln>
            <a:solidFill>
              <a:srgbClr val="00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7616" y="1463040"/>
            <a:ext cx="3081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91F37"/>
                </a:solidFill>
                <a:latin typeface="Aptos"/>
              </a:rPr>
              <a:t>Advanced modeling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7616" y="1764792"/>
            <a:ext cx="308152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86676"/>
                </a:solidFill>
                <a:latin typeface="Aptos"/>
              </a:rPr>
              <a:t>Validated ensemble models, TFT sequence forecasts, hydraulic depth via HEC-RAS 2D, uncertainty bands, and model drift monitoring.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898648"/>
            <a:ext cx="3401568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2898648"/>
            <a:ext cx="73152" cy="1225296"/>
          </a:xfrm>
          <a:prstGeom prst="rect">
            <a:avLst/>
          </a:prstGeom>
          <a:solidFill>
            <a:srgbClr val="E68034"/>
          </a:solidFill>
          <a:ln>
            <a:solidFill>
              <a:srgbClr val="E68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035808"/>
            <a:ext cx="3081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91F37"/>
                </a:solidFill>
                <a:latin typeface="Aptos"/>
              </a:rPr>
              <a:t>IoT and field feeds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337560"/>
            <a:ext cx="308152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86676"/>
                </a:solidFill>
                <a:latin typeface="Aptos"/>
              </a:rPr>
              <a:t>Gauge telemetry, low-cost rain stations, reservoir releases, rescue-team mobile updates, and offline-first data capture.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25696" y="2898648"/>
            <a:ext cx="3401568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25696" y="2898648"/>
            <a:ext cx="73152" cy="1225296"/>
          </a:xfrm>
          <a:prstGeom prst="rect">
            <a:avLst/>
          </a:prstGeom>
          <a:solidFill>
            <a:srgbClr val="439666"/>
          </a:solidFill>
          <a:ln>
            <a:solidFill>
              <a:srgbClr val="439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0288" y="3035808"/>
            <a:ext cx="3081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91F37"/>
                </a:solidFill>
                <a:latin typeface="Aptos"/>
              </a:rPr>
              <a:t>Damage and exposure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3337560"/>
            <a:ext cx="308152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86676"/>
                </a:solidFill>
                <a:latin typeface="Aptos"/>
              </a:rPr>
              <a:t>Near-real-time flood segmentation, infrastructure impact, evacuation routing, shelter capacity, and vulnerable-population overlays.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93024" y="2898648"/>
            <a:ext cx="3401568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93024" y="2898648"/>
            <a:ext cx="73152" cy="1225296"/>
          </a:xfrm>
          <a:prstGeom prst="rect">
            <a:avLst/>
          </a:prstGeom>
          <a:solidFill>
            <a:srgbClr val="2472C8"/>
          </a:solidFill>
          <a:ln>
            <a:solidFill>
              <a:srgbClr val="247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57616" y="3035808"/>
            <a:ext cx="3081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91F37"/>
                </a:solidFill>
                <a:latin typeface="Aptos"/>
              </a:rPr>
              <a:t>Command operations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7616" y="3337560"/>
            <a:ext cx="308152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86676"/>
                </a:solidFill>
                <a:latin typeface="Aptos"/>
              </a:rPr>
              <a:t>Tasking, resource dispatch, logistics stock, mutual-aid requests, post-event reports, and KPI dashboards for leadership.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48920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91F37"/>
                </a:solidFill>
                <a:latin typeface="Aptos"/>
              </a:rPr>
              <a:t>Priority principle: strengthen trust, provenance, and operational accountability before expanding automated public warning.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009488"/>
                </a:solidFill>
                <a:latin typeface="Aptos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91F37"/>
                </a:solidFill>
                <a:latin typeface="Aptos"/>
              </a:rPr>
              <a:t>Suggested Implementation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4023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586676"/>
                </a:solidFill>
                <a:latin typeface="Aptos"/>
              </a:rPr>
              <a:t>FloodGuard AI Disaster Management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86676"/>
                </a:solidFill>
                <a:latin typeface="Aptos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26289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9536" y="1618488"/>
            <a:ext cx="310896" cy="310896"/>
          </a:xfrm>
          <a:prstGeom prst="ellipse">
            <a:avLst/>
          </a:prstGeom>
          <a:solidFill>
            <a:srgbClr val="2472C8"/>
          </a:solidFill>
          <a:ln>
            <a:solidFill>
              <a:srgbClr val="247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572768"/>
            <a:ext cx="18973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2472C8"/>
                </a:solidFill>
                <a:latin typeface="Aptos"/>
              </a:rPr>
              <a:t>0-3 months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057400"/>
            <a:ext cx="23088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91F37"/>
                </a:solidFill>
                <a:latin typeface="Aptos"/>
              </a:rPr>
              <a:t>Harden current portal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459735"/>
            <a:ext cx="2281428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10">
                <a:solidFill>
                  <a:srgbClr val="586676"/>
                </a:solidFill>
                <a:latin typeface="Aptos"/>
              </a:defRPr>
            </a:pPr>
            <a:r>
              <a:t>Auth and user roles</a:t>
            </a:r>
          </a:p>
          <a:p>
            <a:pPr>
              <a:spcAft>
                <a:spcPts val="500"/>
              </a:spcAft>
              <a:defRPr sz="910">
                <a:solidFill>
                  <a:srgbClr val="586676"/>
                </a:solidFill>
                <a:latin typeface="Aptos"/>
              </a:defRPr>
            </a:pPr>
            <a:r>
              <a:t>Report approval workflow</a:t>
            </a:r>
          </a:p>
          <a:p>
            <a:pPr>
              <a:spcAft>
                <a:spcPts val="500"/>
              </a:spcAft>
              <a:defRPr sz="910">
                <a:solidFill>
                  <a:srgbClr val="586676"/>
                </a:solidFill>
                <a:latin typeface="Aptos"/>
              </a:defRPr>
            </a:pPr>
            <a:r>
              <a:t>Alert templates and audit trail</a:t>
            </a:r>
          </a:p>
          <a:p>
            <a:pPr>
              <a:spcAft>
                <a:spcPts val="500"/>
              </a:spcAft>
              <a:defRPr sz="910">
                <a:solidFill>
                  <a:srgbClr val="586676"/>
                </a:solidFill>
                <a:latin typeface="Aptos"/>
              </a:defRPr>
            </a:pPr>
            <a:r>
              <a:t>Production deployment checklist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78708" y="1417320"/>
            <a:ext cx="26289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79876" y="1618488"/>
            <a:ext cx="310896" cy="310896"/>
          </a:xfrm>
          <a:prstGeom prst="ellipse">
            <a:avLst/>
          </a:prstGeom>
          <a:solidFill>
            <a:srgbClr val="009488"/>
          </a:solidFill>
          <a:ln>
            <a:solidFill>
              <a:srgbClr val="00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00500" y="1572768"/>
            <a:ext cx="18973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009488"/>
                </a:solidFill>
                <a:latin typeface="Aptos"/>
              </a:rPr>
              <a:t>3-6 months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79876" y="2057400"/>
            <a:ext cx="23088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91F37"/>
                </a:solidFill>
                <a:latin typeface="Aptos"/>
              </a:rPr>
              <a:t>Operational integrations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8164" y="2459735"/>
            <a:ext cx="2281428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10">
                <a:solidFill>
                  <a:srgbClr val="586676"/>
                </a:solidFill>
                <a:latin typeface="Aptos"/>
              </a:defRPr>
            </a:pPr>
            <a:r>
              <a:t>Authority resource database</a:t>
            </a:r>
          </a:p>
          <a:p>
            <a:pPr>
              <a:spcAft>
                <a:spcPts val="500"/>
              </a:spcAft>
              <a:defRPr sz="910">
                <a:solidFill>
                  <a:srgbClr val="586676"/>
                </a:solidFill>
                <a:latin typeface="Aptos"/>
              </a:defRPr>
            </a:pPr>
            <a:r>
              <a:t>Notification channels</a:t>
            </a:r>
          </a:p>
          <a:p>
            <a:pPr>
              <a:spcAft>
                <a:spcPts val="500"/>
              </a:spcAft>
              <a:defRPr sz="910">
                <a:solidFill>
                  <a:srgbClr val="586676"/>
                </a:solidFill>
                <a:latin typeface="Aptos"/>
              </a:defRPr>
            </a:pPr>
            <a:r>
              <a:t>Telemetry connectors</a:t>
            </a:r>
          </a:p>
          <a:p>
            <a:pPr>
              <a:spcAft>
                <a:spcPts val="500"/>
              </a:spcAft>
              <a:defRPr sz="910">
                <a:solidFill>
                  <a:srgbClr val="586676"/>
                </a:solidFill>
                <a:latin typeface="Aptos"/>
              </a:defRPr>
            </a:pPr>
            <a:r>
              <a:t>Incident tasking and dispatch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9048" y="1417320"/>
            <a:ext cx="26289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00216" y="1618488"/>
            <a:ext cx="310896" cy="310896"/>
          </a:xfrm>
          <a:prstGeom prst="ellipse">
            <a:avLst/>
          </a:prstGeom>
          <a:solidFill>
            <a:srgbClr val="E68034"/>
          </a:solidFill>
          <a:ln>
            <a:solidFill>
              <a:srgbClr val="E68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1572768"/>
            <a:ext cx="18973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E68034"/>
                </a:solidFill>
                <a:latin typeface="Aptos"/>
              </a:rPr>
              <a:t>6-12 months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2057400"/>
            <a:ext cx="23088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91F37"/>
                </a:solidFill>
                <a:latin typeface="Aptos"/>
              </a:rPr>
              <a:t>Model and exposure expansion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8504" y="2459735"/>
            <a:ext cx="2281428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10">
                <a:solidFill>
                  <a:srgbClr val="586676"/>
                </a:solidFill>
                <a:latin typeface="Aptos"/>
              </a:defRPr>
            </a:pPr>
            <a:r>
              <a:t>Validated ML deployment gate</a:t>
            </a:r>
          </a:p>
          <a:p>
            <a:pPr>
              <a:spcAft>
                <a:spcPts val="500"/>
              </a:spcAft>
              <a:defRPr sz="910">
                <a:solidFill>
                  <a:srgbClr val="586676"/>
                </a:solidFill>
                <a:latin typeface="Aptos"/>
              </a:defRPr>
            </a:pPr>
            <a:r>
              <a:t>Hydraulic depth studies</a:t>
            </a:r>
          </a:p>
          <a:p>
            <a:pPr>
              <a:spcAft>
                <a:spcPts val="500"/>
              </a:spcAft>
              <a:defRPr sz="910">
                <a:solidFill>
                  <a:srgbClr val="586676"/>
                </a:solidFill>
                <a:latin typeface="Aptos"/>
              </a:defRPr>
            </a:pPr>
            <a:r>
              <a:t>More regions for exposure</a:t>
            </a:r>
          </a:p>
          <a:p>
            <a:pPr>
              <a:spcAft>
                <a:spcPts val="500"/>
              </a:spcAft>
              <a:defRPr sz="910">
                <a:solidFill>
                  <a:srgbClr val="586676"/>
                </a:solidFill>
                <a:latin typeface="Aptos"/>
              </a:defRPr>
            </a:pPr>
            <a:r>
              <a:t>Automated quality dashboards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19388" y="1417320"/>
            <a:ext cx="26289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020556" y="1618488"/>
            <a:ext cx="310896" cy="310896"/>
          </a:xfrm>
          <a:prstGeom prst="ellipse">
            <a:avLst/>
          </a:prstGeom>
          <a:solidFill>
            <a:srgbClr val="CA3939"/>
          </a:solidFill>
          <a:ln>
            <a:solidFill>
              <a:srgbClr val="CA3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41180" y="1572768"/>
            <a:ext cx="18973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CA3939"/>
                </a:solidFill>
                <a:latin typeface="Aptos"/>
              </a:rPr>
              <a:t>12+ months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20556" y="2057400"/>
            <a:ext cx="23088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91F37"/>
                </a:solidFill>
                <a:latin typeface="Aptos"/>
              </a:rPr>
              <a:t>National command maturity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38844" y="2459735"/>
            <a:ext cx="2281428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10">
                <a:solidFill>
                  <a:srgbClr val="586676"/>
                </a:solidFill>
                <a:latin typeface="Aptos"/>
              </a:defRPr>
            </a:pPr>
            <a:r>
              <a:t>Multi-agency operations room</a:t>
            </a:r>
          </a:p>
          <a:p>
            <a:pPr>
              <a:spcAft>
                <a:spcPts val="500"/>
              </a:spcAft>
              <a:defRPr sz="910">
                <a:solidFill>
                  <a:srgbClr val="586676"/>
                </a:solidFill>
                <a:latin typeface="Aptos"/>
              </a:defRPr>
            </a:pPr>
            <a:r>
              <a:t>Mobile/offline field apps</a:t>
            </a:r>
          </a:p>
          <a:p>
            <a:pPr>
              <a:spcAft>
                <a:spcPts val="500"/>
              </a:spcAft>
              <a:defRPr sz="910">
                <a:solidFill>
                  <a:srgbClr val="586676"/>
                </a:solidFill>
                <a:latin typeface="Aptos"/>
              </a:defRPr>
            </a:pPr>
            <a:r>
              <a:t>Public warning publishing</a:t>
            </a:r>
          </a:p>
          <a:p>
            <a:pPr>
              <a:spcAft>
                <a:spcPts val="500"/>
              </a:spcAft>
              <a:defRPr sz="910">
                <a:solidFill>
                  <a:srgbClr val="586676"/>
                </a:solidFill>
                <a:latin typeface="Aptos"/>
              </a:defRPr>
            </a:pPr>
            <a:r>
              <a:t>After-action analytics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983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91F37"/>
                </a:solidFill>
                <a:latin typeface="Aptos"/>
              </a:rPr>
              <a:t>The portal already has a strong technical foundation. The next leap is workflow maturity: verified data, controlled approvals, reliable integrations, and trusted alerts.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